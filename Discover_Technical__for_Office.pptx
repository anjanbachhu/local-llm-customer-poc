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80D1DFA-1799-4586-B4CA-0D3B3DA53506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138970-AF75-45E6-A4F1-7A8D08F0CB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470406-AA81-4D27-9653-10D0BF239C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D794E8-1DA2-4387-B591-5F99DF18AE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50354F-4059-4B12-8ACD-223053D27B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F2BC1D-0D79-4411-88C0-CBCD63F47F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E774BF-2C34-465E-8AE3-679D9BAE7A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DFA3A1-A207-4DF5-947A-438EC5CBBF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8639FD-3323-44DA-97E1-79D0AEE340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0DBFD7-2C2F-46F3-969C-0D982E421A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326880" y="-1463040"/>
            <a:ext cx="4754160" cy="4754160"/>
          </a:xfrm>
          <a:prstGeom prst="ellipse">
            <a:avLst/>
          </a:prstGeom>
          <a:solidFill>
            <a:srgbClr val="EE5F0E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515600" y="3474720"/>
            <a:ext cx="3839760" cy="3839760"/>
          </a:xfrm>
          <a:prstGeom prst="ellipse">
            <a:avLst/>
          </a:prstGeom>
          <a:solidFill>
            <a:srgbClr val="FF972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D:/BankingVoiceAgent_POC/slides/discover-logo.png"/>
          <p:cNvPicPr/>
          <p:nvPr/>
        </p:nvPicPr>
        <p:blipFill>
          <a:blip r:embed="rId1"/>
          <a:stretch/>
        </p:blipFill>
        <p:spPr>
          <a:xfrm>
            <a:off x="731520" y="685800"/>
            <a:ext cx="243144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2"/>
          <p:cNvSpPr/>
          <p:nvPr/>
        </p:nvSpPr>
        <p:spPr>
          <a:xfrm>
            <a:off x="731520" y="169164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FF972F"/>
                </a:solidFill>
                <a:effectLst/>
                <a:uFillTx/>
                <a:latin typeface="Calibri"/>
                <a:ea typeface="Calibri"/>
              </a:rPr>
              <a:t>POC · TECHNICAL ARCHITECTURE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731520" y="2148840"/>
            <a:ext cx="104234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Local AI Voice Agent for Card Services</a:t>
            </a:r>
            <a:endParaRPr lang="en-GB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49880" y="3291840"/>
            <a:ext cx="1042344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D9D9EA"/>
                </a:solidFill>
                <a:effectLst/>
                <a:uFillTx/>
                <a:latin typeface="Calibri"/>
                <a:ea typeface="Calibri"/>
              </a:rPr>
              <a:t>A voice assistant that reports lost cards, freezes / unfreezes cards, and answers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D9D9EA"/>
                </a:solidFill>
                <a:effectLst/>
                <a:uFillTx/>
                <a:latin typeface="Calibri"/>
                <a:ea typeface="Calibri"/>
              </a:rPr>
              <a:t>policy questions from the bank's own documents — running entirely on one machine.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731520" y="4572000"/>
            <a:ext cx="2056680" cy="50220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97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731520" y="457200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100% local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2944440" y="4572000"/>
            <a:ext cx="2056680" cy="50220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97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2944440" y="457200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 cloud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5157360" y="4572000"/>
            <a:ext cx="2056680" cy="50220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97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5157360" y="457200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 API keys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1"/>
          <p:cNvSpPr/>
          <p:nvPr/>
        </p:nvSpPr>
        <p:spPr>
          <a:xfrm>
            <a:off x="7369920" y="4572000"/>
            <a:ext cx="2056680" cy="50220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97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7369920" y="457200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Voice + LLM + tools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3"/>
          <p:cNvSpPr/>
          <p:nvPr/>
        </p:nvSpPr>
        <p:spPr>
          <a:xfrm>
            <a:off x="9582840" y="4572000"/>
            <a:ext cx="2056680" cy="50220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97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9582840" y="457200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Policy-doc Q&amp;A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731520" y="5852160"/>
            <a:ext cx="10606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D9D9EA"/>
                </a:solidFill>
                <a:effectLst/>
                <a:uFillTx/>
                <a:latin typeface="Calibri"/>
                <a:ea typeface="Calibri"/>
              </a:rPr>
              <a:t>Stack: Browser Web Speech · Spring Boot (Java 21) · Ollama (qwen2.5:3b) · SQLite · Piper neural TTS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548640" y="384120"/>
            <a:ext cx="110635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What we built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48640" y="951120"/>
            <a:ext cx="11063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A6A85"/>
                </a:solidFill>
                <a:effectLst/>
                <a:uFillTx/>
                <a:latin typeface="Calibri"/>
                <a:ea typeface="Calibri"/>
              </a:rPr>
              <a:t>A phone-style voice agent for everyday card tasks — built to run with zero external dependencies.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339840" y="1545480"/>
            <a:ext cx="2605320" cy="22852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548640" y="1554480"/>
            <a:ext cx="2605320" cy="109080"/>
          </a:xfrm>
          <a:prstGeom prst="rect">
            <a:avLst/>
          </a:prstGeom>
          <a:solidFill>
            <a:srgbClr val="E055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749880" y="1828800"/>
            <a:ext cx="2239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Report lost card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749880" y="2514600"/>
            <a:ext cx="22395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Permanently blocks a card and issues a replacement.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3374280" y="1554480"/>
            <a:ext cx="2605320" cy="22852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7"/>
          <p:cNvSpPr/>
          <p:nvPr/>
        </p:nvSpPr>
        <p:spPr>
          <a:xfrm>
            <a:off x="3374280" y="1554480"/>
            <a:ext cx="2605320" cy="109080"/>
          </a:xfrm>
          <a:prstGeom prst="rect">
            <a:avLst/>
          </a:prstGeom>
          <a:solidFill>
            <a:srgbClr val="EE5F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3575160" y="1828800"/>
            <a:ext cx="2239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Freeze a card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3575160" y="2514600"/>
            <a:ext cx="22395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Temporarily disables a card; fully reversible.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0"/>
          <p:cNvSpPr/>
          <p:nvPr/>
        </p:nvSpPr>
        <p:spPr>
          <a:xfrm>
            <a:off x="6199560" y="1554480"/>
            <a:ext cx="2605320" cy="22852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1"/>
          <p:cNvSpPr/>
          <p:nvPr/>
        </p:nvSpPr>
        <p:spPr>
          <a:xfrm>
            <a:off x="6199560" y="1554480"/>
            <a:ext cx="2605320" cy="109080"/>
          </a:xfrm>
          <a:prstGeom prst="rect">
            <a:avLst/>
          </a:prstGeom>
          <a:solidFill>
            <a:srgbClr val="2BB6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6400800" y="1828800"/>
            <a:ext cx="2239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Unfreeze a card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6400800" y="2514600"/>
            <a:ext cx="22395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Re-activates a previously frozen card.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4"/>
          <p:cNvSpPr/>
          <p:nvPr/>
        </p:nvSpPr>
        <p:spPr>
          <a:xfrm>
            <a:off x="9025200" y="1554480"/>
            <a:ext cx="2605320" cy="22852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5"/>
          <p:cNvSpPr/>
          <p:nvPr/>
        </p:nvSpPr>
        <p:spPr>
          <a:xfrm>
            <a:off x="9025200" y="1554480"/>
            <a:ext cx="2605320" cy="109080"/>
          </a:xfrm>
          <a:prstGeom prst="rect">
            <a:avLst/>
          </a:prstGeom>
          <a:solidFill>
            <a:srgbClr val="23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9226440" y="1828800"/>
            <a:ext cx="2239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Policy Q&amp;A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9226440" y="2514600"/>
            <a:ext cx="22395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Answers questions from official policy PDFs — phone numbers, opt-outs, terms.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548640" y="4114800"/>
            <a:ext cx="11090880" cy="2102400"/>
          </a:xfrm>
          <a:prstGeom prst="roundRect">
            <a:avLst>
              <a:gd name="adj" fmla="val 3478"/>
            </a:avLst>
          </a:prstGeom>
          <a:solidFill>
            <a:srgbClr val="F4F4F8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822960" y="429768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Why fully local?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822960" y="4754880"/>
            <a:ext cx="3382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E5F0E"/>
                </a:solidFill>
                <a:effectLst/>
                <a:uFillTx/>
                <a:latin typeface="Calibri"/>
                <a:ea typeface="Calibri"/>
              </a:rPr>
              <a:t>Privacy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1"/>
          <p:cNvSpPr/>
          <p:nvPr/>
        </p:nvSpPr>
        <p:spPr>
          <a:xfrm>
            <a:off x="822960" y="5120640"/>
            <a:ext cx="33825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Customer, card and document data never leaves the laptop.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4480560" y="4754880"/>
            <a:ext cx="3382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E5F0E"/>
                </a:solidFill>
                <a:effectLst/>
                <a:uFillTx/>
                <a:latin typeface="Calibri"/>
                <a:ea typeface="Calibri"/>
              </a:rPr>
              <a:t>Zero cost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3"/>
          <p:cNvSpPr/>
          <p:nvPr/>
        </p:nvSpPr>
        <p:spPr>
          <a:xfrm>
            <a:off x="4480560" y="5120640"/>
            <a:ext cx="33825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No Vapi / OpenAI / ElevenLabs accounts or billing.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4"/>
          <p:cNvSpPr/>
          <p:nvPr/>
        </p:nvSpPr>
        <p:spPr>
          <a:xfrm>
            <a:off x="8138160" y="4754880"/>
            <a:ext cx="3382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E5F0E"/>
                </a:solidFill>
                <a:effectLst/>
                <a:uFillTx/>
                <a:latin typeface="Calibri"/>
                <a:ea typeface="Calibri"/>
              </a:rPr>
              <a:t>Self-contained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8138160" y="5120640"/>
            <a:ext cx="33825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Runs offline; ideal for a controlled demo.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48640" y="384120"/>
            <a:ext cx="110635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Architecture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548640" y="951120"/>
            <a:ext cx="11063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A6A85"/>
                </a:solidFill>
                <a:effectLst/>
                <a:uFillTx/>
                <a:latin typeface="Calibri"/>
                <a:ea typeface="Calibri"/>
              </a:rPr>
              <a:t>Four local components plus two local data sources — all on localhost.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548640" y="1417320"/>
            <a:ext cx="11090880" cy="4891320"/>
          </a:xfrm>
          <a:prstGeom prst="roundRect">
            <a:avLst>
              <a:gd name="adj" fmla="val 1121"/>
            </a:avLst>
          </a:prstGeom>
          <a:solidFill>
            <a:srgbClr val="F4F4F8"/>
          </a:solidFill>
          <a:ln w="12700">
            <a:solidFill>
              <a:srgbClr val="E4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822960" y="155448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A6A85"/>
                </a:solidFill>
                <a:effectLst/>
                <a:uFillTx/>
                <a:latin typeface="Calibri"/>
                <a:ea typeface="Calibri"/>
              </a:rPr>
              <a:t>💻  YOUR LAPTOP — localhost only · nothing leaves the machine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841320" y="2148840"/>
            <a:ext cx="2559600" cy="2651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1024200" y="2331720"/>
            <a:ext cx="456480" cy="456480"/>
          </a:xfrm>
          <a:prstGeom prst="ellipse">
            <a:avLst/>
          </a:prstGeom>
          <a:solidFill>
            <a:srgbClr val="4444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1024200" y="23317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1572840" y="2350080"/>
            <a:ext cx="1690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Browser</a:t>
            </a:r>
            <a:endParaRPr lang="en-GB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1060560" y="2971800"/>
            <a:ext cx="214812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Chrome Web Speech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· Speech → Text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Plays Piper WAV audio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Login + verified badge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index.html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3611880" y="2148840"/>
            <a:ext cx="2559600" cy="2651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3794760" y="2331720"/>
            <a:ext cx="456480" cy="456480"/>
          </a:xfrm>
          <a:prstGeom prst="ellipse">
            <a:avLst/>
          </a:prstGeom>
          <a:solidFill>
            <a:srgbClr val="EE5F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3794760" y="23317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4343400" y="2350080"/>
            <a:ext cx="1690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Spring Boot</a:t>
            </a:r>
            <a:endParaRPr lang="en-GB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3831480" y="2971800"/>
            <a:ext cx="214812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Java 21 · :8787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/chat /login /tts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Auth gate (phone+DOB)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Tool execution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Policy-doc retrieval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6382440" y="2148840"/>
            <a:ext cx="2559600" cy="2651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6565320" y="2331720"/>
            <a:ext cx="456480" cy="456480"/>
          </a:xfrm>
          <a:prstGeom prst="ellipse">
            <a:avLst/>
          </a:prstGeom>
          <a:solidFill>
            <a:srgbClr val="23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6565320" y="23317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7113960" y="2350080"/>
            <a:ext cx="1690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Local LLM</a:t>
            </a:r>
            <a:endParaRPr lang="en-GB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6602040" y="2971800"/>
            <a:ext cx="214812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Ollama · qwen2.5:3b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127.0.0.1:11434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Understands intent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Function / tool calling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Answers from excerpts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9"/>
          <p:cNvSpPr/>
          <p:nvPr/>
        </p:nvSpPr>
        <p:spPr>
          <a:xfrm>
            <a:off x="9153000" y="2148840"/>
            <a:ext cx="2559600" cy="2651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0"/>
          <p:cNvSpPr/>
          <p:nvPr/>
        </p:nvSpPr>
        <p:spPr>
          <a:xfrm>
            <a:off x="9335880" y="2331720"/>
            <a:ext cx="456480" cy="456480"/>
          </a:xfrm>
          <a:prstGeom prst="ellipse">
            <a:avLst/>
          </a:prstGeom>
          <a:solidFill>
            <a:srgbClr val="2BB6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1"/>
          <p:cNvSpPr/>
          <p:nvPr/>
        </p:nvSpPr>
        <p:spPr>
          <a:xfrm>
            <a:off x="9335880" y="23317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9884520" y="2350080"/>
            <a:ext cx="1690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Piper TTS</a:t>
            </a:r>
            <a:endParaRPr lang="en-GB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3"/>
          <p:cNvSpPr/>
          <p:nvPr/>
        </p:nvSpPr>
        <p:spPr>
          <a:xfrm>
            <a:off x="9372600" y="2971800"/>
            <a:ext cx="214812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Neural voice 'Amy'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Persistent process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Text → WAV ~1s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Cached phrases instant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100% offline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4"/>
          <p:cNvSpPr/>
          <p:nvPr/>
        </p:nvSpPr>
        <p:spPr>
          <a:xfrm>
            <a:off x="3364920" y="3154680"/>
            <a:ext cx="291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A6A85"/>
                </a:solidFill>
                <a:effectLst/>
                <a:uFillTx/>
                <a:latin typeface="Calibri"/>
              </a:rPr>
              <a:t>→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5"/>
          <p:cNvSpPr/>
          <p:nvPr/>
        </p:nvSpPr>
        <p:spPr>
          <a:xfrm>
            <a:off x="6135480" y="3154680"/>
            <a:ext cx="291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A6A85"/>
                </a:solidFill>
                <a:effectLst/>
                <a:uFillTx/>
                <a:latin typeface="Calibri"/>
              </a:rPr>
              <a:t>⇄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6"/>
          <p:cNvSpPr/>
          <p:nvPr/>
        </p:nvSpPr>
        <p:spPr>
          <a:xfrm>
            <a:off x="8906400" y="3154680"/>
            <a:ext cx="291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A6A85"/>
                </a:solidFill>
                <a:effectLst/>
                <a:uFillTx/>
                <a:latin typeface="Calibri"/>
              </a:rPr>
              <a:t>←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7"/>
          <p:cNvSpPr/>
          <p:nvPr/>
        </p:nvSpPr>
        <p:spPr>
          <a:xfrm>
            <a:off x="1371600" y="5120640"/>
            <a:ext cx="4022640" cy="959400"/>
          </a:xfrm>
          <a:prstGeom prst="roundRect">
            <a:avLst>
              <a:gd name="adj" fmla="val 5714"/>
            </a:avLst>
          </a:prstGeom>
          <a:solidFill>
            <a:srgbClr val="23233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8"/>
          <p:cNvSpPr/>
          <p:nvPr/>
        </p:nvSpPr>
        <p:spPr>
          <a:xfrm>
            <a:off x="1554480" y="5230440"/>
            <a:ext cx="3656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D9D9EA"/>
                </a:solidFill>
                <a:effectLst/>
                <a:uFillTx/>
                <a:latin typeface="Calibri"/>
                <a:ea typeface="Calibri"/>
              </a:rPr>
              <a:t>🗄  SQLite — securebank.db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customer · phone · DOB · cards[ last4, type, status ]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9"/>
          <p:cNvSpPr/>
          <p:nvPr/>
        </p:nvSpPr>
        <p:spPr>
          <a:xfrm>
            <a:off x="6035040" y="5120640"/>
            <a:ext cx="4479840" cy="959400"/>
          </a:xfrm>
          <a:prstGeom prst="roundRect">
            <a:avLst>
              <a:gd name="adj" fmla="val 5714"/>
            </a:avLst>
          </a:prstGeom>
          <a:solidFill>
            <a:srgbClr val="EE5F0E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0"/>
          <p:cNvSpPr/>
          <p:nvPr/>
        </p:nvSpPr>
        <p:spPr>
          <a:xfrm>
            <a:off x="6217920" y="5230440"/>
            <a:ext cx="4114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📄  Policy_Docs\ — PDFs (knowledge base)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auto-indexed on change · PDFBox text + Tesseract OCR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1"/>
          <p:cNvSpPr/>
          <p:nvPr/>
        </p:nvSpPr>
        <p:spPr>
          <a:xfrm>
            <a:off x="3657600" y="4736520"/>
            <a:ext cx="1462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A6A85"/>
                </a:solidFill>
                <a:effectLst/>
                <a:uFillTx/>
                <a:latin typeface="Calibri"/>
              </a:rPr>
              <a:t>↕ read / write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2"/>
          <p:cNvSpPr/>
          <p:nvPr/>
        </p:nvSpPr>
        <p:spPr>
          <a:xfrm>
            <a:off x="7863840" y="4736520"/>
            <a:ext cx="1279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A6A85"/>
                </a:solidFill>
                <a:effectLst/>
                <a:uFillTx/>
                <a:latin typeface="Calibri"/>
              </a:rPr>
              <a:t>↑ search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548640" y="384120"/>
            <a:ext cx="110635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How a call flows — end to end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548640" y="951120"/>
            <a:ext cx="11063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A6A85"/>
                </a:solidFill>
                <a:effectLst/>
                <a:uFillTx/>
                <a:latin typeface="Calibri"/>
                <a:ea typeface="Calibri"/>
              </a:rPr>
              <a:t>From the customer's voice to the spoken reply — every step runs on one laptop.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0" descr="D:/BankingVoiceAgent_POC/slides/flow-diagram.png"/>
          <p:cNvPicPr/>
          <p:nvPr/>
        </p:nvPicPr>
        <p:blipFill>
          <a:blip r:embed="rId1"/>
          <a:stretch/>
        </p:blipFill>
        <p:spPr>
          <a:xfrm>
            <a:off x="457200" y="1325880"/>
            <a:ext cx="4571280" cy="543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Shape 2"/>
          <p:cNvSpPr/>
          <p:nvPr/>
        </p:nvSpPr>
        <p:spPr>
          <a:xfrm>
            <a:off x="5440680" y="1417320"/>
            <a:ext cx="6217200" cy="5028480"/>
          </a:xfrm>
          <a:prstGeom prst="roundRect">
            <a:avLst>
              <a:gd name="adj" fmla="val 1455"/>
            </a:avLst>
          </a:prstGeom>
          <a:solidFill>
            <a:srgbClr val="F4F4F8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5715000" y="1600200"/>
            <a:ext cx="5668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Follow one call — top to bottom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5760720" y="2212920"/>
            <a:ext cx="401760" cy="401760"/>
          </a:xfrm>
          <a:prstGeom prst="ellipse">
            <a:avLst/>
          </a:prstGeom>
          <a:solidFill>
            <a:srgbClr val="23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5760720" y="221292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6355080" y="2157840"/>
            <a:ext cx="5074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233F"/>
                </a:solidFill>
                <a:effectLst/>
                <a:uFillTx/>
                <a:latin typeface="Calibri"/>
                <a:ea typeface="Calibri"/>
              </a:rPr>
              <a:t>You talk  —  </a:t>
            </a:r>
            <a:r>
              <a:rPr lang="en-US" sz="12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say what you need, like a phone call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5760720" y="2779920"/>
            <a:ext cx="401760" cy="401760"/>
          </a:xfrm>
          <a:prstGeom prst="ellipse">
            <a:avLst/>
          </a:prstGeom>
          <a:solidFill>
            <a:srgbClr val="23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5760720" y="277992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9"/>
          <p:cNvSpPr/>
          <p:nvPr/>
        </p:nvSpPr>
        <p:spPr>
          <a:xfrm>
            <a:off x="6355080" y="2724840"/>
            <a:ext cx="5074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233F"/>
                </a:solidFill>
                <a:effectLst/>
                <a:uFillTx/>
                <a:latin typeface="Calibri"/>
                <a:ea typeface="Calibri"/>
              </a:rPr>
              <a:t>Speech-to-Text  —  </a:t>
            </a:r>
            <a:r>
              <a:rPr lang="en-US" sz="12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the browser writes down your words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0"/>
          <p:cNvSpPr/>
          <p:nvPr/>
        </p:nvSpPr>
        <p:spPr>
          <a:xfrm>
            <a:off x="5760720" y="3346560"/>
            <a:ext cx="401760" cy="401760"/>
          </a:xfrm>
          <a:prstGeom prst="ellipse">
            <a:avLst/>
          </a:prstGeom>
          <a:solidFill>
            <a:srgbClr val="23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5760720" y="334656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6355080" y="3291840"/>
            <a:ext cx="5074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233F"/>
                </a:solidFill>
                <a:effectLst/>
                <a:uFillTx/>
                <a:latin typeface="Calibri"/>
                <a:ea typeface="Calibri"/>
              </a:rPr>
              <a:t>Spring Boot server  —  </a:t>
            </a:r>
            <a:r>
              <a:rPr lang="en-US" sz="12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runs the conversation and the rules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3"/>
          <p:cNvSpPr/>
          <p:nvPr/>
        </p:nvSpPr>
        <p:spPr>
          <a:xfrm>
            <a:off x="5760720" y="3913560"/>
            <a:ext cx="401760" cy="401760"/>
          </a:xfrm>
          <a:prstGeom prst="ellipse">
            <a:avLst/>
          </a:prstGeom>
          <a:solidFill>
            <a:srgbClr val="EE5F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5760720" y="391356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6355080" y="3858840"/>
            <a:ext cx="5074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233F"/>
                </a:solidFill>
                <a:effectLst/>
                <a:uFillTx/>
                <a:latin typeface="Calibri"/>
                <a:ea typeface="Calibri"/>
              </a:rPr>
              <a:t>Local LLM  —  </a:t>
            </a:r>
            <a:r>
              <a:rPr lang="en-US" sz="12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works out what you want, picks a tool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6"/>
          <p:cNvSpPr/>
          <p:nvPr/>
        </p:nvSpPr>
        <p:spPr>
          <a:xfrm>
            <a:off x="5760720" y="4480560"/>
            <a:ext cx="401760" cy="401760"/>
          </a:xfrm>
          <a:prstGeom prst="ellipse">
            <a:avLst/>
          </a:prstGeom>
          <a:solidFill>
            <a:srgbClr val="23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5760720" y="448056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8"/>
          <p:cNvSpPr/>
          <p:nvPr/>
        </p:nvSpPr>
        <p:spPr>
          <a:xfrm>
            <a:off x="6355080" y="4425840"/>
            <a:ext cx="5074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233F"/>
                </a:solidFill>
                <a:effectLst/>
                <a:uFillTx/>
                <a:latin typeface="Calibri"/>
                <a:ea typeface="Calibri"/>
              </a:rPr>
              <a:t>Business logic  —  </a:t>
            </a:r>
            <a:r>
              <a:rPr lang="en-US" sz="12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verify you, then act or look it up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9"/>
          <p:cNvSpPr/>
          <p:nvPr/>
        </p:nvSpPr>
        <p:spPr>
          <a:xfrm>
            <a:off x="5760720" y="5047560"/>
            <a:ext cx="401760" cy="401760"/>
          </a:xfrm>
          <a:prstGeom prst="ellipse">
            <a:avLst/>
          </a:prstGeom>
          <a:solidFill>
            <a:srgbClr val="EE5F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0"/>
          <p:cNvSpPr/>
          <p:nvPr/>
        </p:nvSpPr>
        <p:spPr>
          <a:xfrm>
            <a:off x="5760720" y="504756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1"/>
          <p:cNvSpPr/>
          <p:nvPr/>
        </p:nvSpPr>
        <p:spPr>
          <a:xfrm>
            <a:off x="6355080" y="4992480"/>
            <a:ext cx="5074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233F"/>
                </a:solidFill>
                <a:effectLst/>
                <a:uFillTx/>
                <a:latin typeface="Calibri"/>
                <a:ea typeface="Calibri"/>
              </a:rPr>
              <a:t>Text-to-Speech  —  </a:t>
            </a:r>
            <a:r>
              <a:rPr lang="en-US" sz="12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a local neural voice speaks the reply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2"/>
          <p:cNvSpPr/>
          <p:nvPr/>
        </p:nvSpPr>
        <p:spPr>
          <a:xfrm>
            <a:off x="5760720" y="5614560"/>
            <a:ext cx="401760" cy="401760"/>
          </a:xfrm>
          <a:prstGeom prst="ellipse">
            <a:avLst/>
          </a:prstGeom>
          <a:solidFill>
            <a:srgbClr val="23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3"/>
          <p:cNvSpPr/>
          <p:nvPr/>
        </p:nvSpPr>
        <p:spPr>
          <a:xfrm>
            <a:off x="5760720" y="561456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4"/>
          <p:cNvSpPr/>
          <p:nvPr/>
        </p:nvSpPr>
        <p:spPr>
          <a:xfrm>
            <a:off x="6355080" y="5559480"/>
            <a:ext cx="5074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3233F"/>
                </a:solidFill>
                <a:effectLst/>
                <a:uFillTx/>
                <a:latin typeface="Calibri"/>
                <a:ea typeface="Calibri"/>
              </a:rPr>
              <a:t>You hear it  —  </a:t>
            </a:r>
            <a:r>
              <a:rPr lang="en-US" sz="12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the browser plays the answer back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5"/>
          <p:cNvSpPr/>
          <p:nvPr/>
        </p:nvSpPr>
        <p:spPr>
          <a:xfrm>
            <a:off x="5715000" y="6035040"/>
            <a:ext cx="576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A6A85"/>
                </a:solidFill>
                <a:effectLst/>
                <a:uFillTx/>
                <a:latin typeface="Calibri"/>
                <a:ea typeface="Calibri"/>
              </a:rPr>
              <a:t>Everything but speech-to-text runs on the laptop — no cloud, no API keys.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48640" y="384120"/>
            <a:ext cx="110635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Technology stack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48640" y="951120"/>
            <a:ext cx="11063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A6A85"/>
                </a:solidFill>
                <a:effectLst/>
                <a:uFillTx/>
                <a:latin typeface="Calibri"/>
                <a:ea typeface="Calibri"/>
              </a:rPr>
              <a:t>Each layer is a small, swappable, open component.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5" name="Table 0"/>
          <p:cNvGraphicFramePr/>
          <p:nvPr/>
        </p:nvGraphicFramePr>
        <p:xfrm>
          <a:off x="548640" y="1463040"/>
          <a:ext cx="11091240" cy="477252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480"/>
              </a:tblGrid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Layer</a:t>
                      </a:r>
                      <a:endParaRPr lang="en-GB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23233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Technology</a:t>
                      </a:r>
                      <a:endParaRPr lang="en-GB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23233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Role</a:t>
                      </a:r>
                      <a:endParaRPr lang="en-GB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23233F"/>
                    </a:solidFill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Voice input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Chrome Web Speech API (SpeechRecognition)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Converts the caller's speech to text — free, in-browser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Voice output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Piper neural TTS — voice 'Amy' (local process)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Server renders WAV; cached phrases play instantly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Web UI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HTML + vanilla JS (index.html)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Conversation view, login, verified badge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Brain / LLM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Ollama running qwen2.5:3b (3B params)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Understands intent, decides which tool to call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Orchestration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Spring Boot (Java 21) on :8787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Prompt assembly, tool-call loop, auth gate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Business logic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BankingService + PolicyDocsService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authenticate / freeze / unfreeze / report-lost / search docs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Data store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SQLite (securebank.db) via Spring Data JPA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Customers, DOB, cards and their status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Knowledge base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Policy_Docs PDFs · PDFBox + Tesseract OCR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Auto-indexed policy documents for customer Q&amp;A</a:t>
                      </a:r>
                      <a:endParaRPr lang="en-GB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548640" y="384120"/>
            <a:ext cx="110635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Request lifecycle — "Freeze my card"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548640" y="951120"/>
            <a:ext cx="11063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A6A85"/>
                </a:solidFill>
                <a:effectLst/>
                <a:uFillTx/>
                <a:latin typeface="Calibri"/>
                <a:ea typeface="Calibri"/>
              </a:rPr>
              <a:t>What happens between the caller speaking and hearing a reply.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"/>
          <p:cNvSpPr/>
          <p:nvPr/>
        </p:nvSpPr>
        <p:spPr>
          <a:xfrm>
            <a:off x="548640" y="1508760"/>
            <a:ext cx="5439960" cy="1279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"/>
          <p:cNvSpPr/>
          <p:nvPr/>
        </p:nvSpPr>
        <p:spPr>
          <a:xfrm>
            <a:off x="777240" y="1892880"/>
            <a:ext cx="547920" cy="547920"/>
          </a:xfrm>
          <a:prstGeom prst="ellipse">
            <a:avLst/>
          </a:prstGeom>
          <a:solidFill>
            <a:srgbClr val="4444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777240" y="18928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1508760" y="1673280"/>
            <a:ext cx="4342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Speak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1508760" y="2075760"/>
            <a:ext cx="4296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Caller says it. Chrome converts voice → text.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7"/>
          <p:cNvSpPr/>
          <p:nvPr/>
        </p:nvSpPr>
        <p:spPr>
          <a:xfrm>
            <a:off x="6126480" y="1508760"/>
            <a:ext cx="5439960" cy="1279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8"/>
          <p:cNvSpPr/>
          <p:nvPr/>
        </p:nvSpPr>
        <p:spPr>
          <a:xfrm>
            <a:off x="6355080" y="1892880"/>
            <a:ext cx="547920" cy="547920"/>
          </a:xfrm>
          <a:prstGeom prst="ellipse">
            <a:avLst/>
          </a:prstGeom>
          <a:solidFill>
            <a:srgbClr val="4444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6355080" y="18928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7086600" y="1673280"/>
            <a:ext cx="4342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Send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7086600" y="2075760"/>
            <a:ext cx="4296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Browser POSTs the text (+ caller number) to the Spring Boot server.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2"/>
          <p:cNvSpPr/>
          <p:nvPr/>
        </p:nvSpPr>
        <p:spPr>
          <a:xfrm>
            <a:off x="548640" y="2990160"/>
            <a:ext cx="5439960" cy="1279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3"/>
          <p:cNvSpPr/>
          <p:nvPr/>
        </p:nvSpPr>
        <p:spPr>
          <a:xfrm>
            <a:off x="777240" y="3374280"/>
            <a:ext cx="547920" cy="547920"/>
          </a:xfrm>
          <a:prstGeom prst="ellipse">
            <a:avLst/>
          </a:prstGeom>
          <a:solidFill>
            <a:srgbClr val="4444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4"/>
          <p:cNvSpPr/>
          <p:nvPr/>
        </p:nvSpPr>
        <p:spPr>
          <a:xfrm>
            <a:off x="777240" y="33742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5"/>
          <p:cNvSpPr/>
          <p:nvPr/>
        </p:nvSpPr>
        <p:spPr>
          <a:xfrm>
            <a:off x="1508760" y="3154680"/>
            <a:ext cx="4342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Think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6"/>
          <p:cNvSpPr/>
          <p:nvPr/>
        </p:nvSpPr>
        <p:spPr>
          <a:xfrm>
            <a:off x="1508760" y="3557160"/>
            <a:ext cx="4296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Server sends the prompt + tool list to the local LLM.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7"/>
          <p:cNvSpPr/>
          <p:nvPr/>
        </p:nvSpPr>
        <p:spPr>
          <a:xfrm>
            <a:off x="6126480" y="2990160"/>
            <a:ext cx="5439960" cy="1279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8"/>
          <p:cNvSpPr/>
          <p:nvPr/>
        </p:nvSpPr>
        <p:spPr>
          <a:xfrm>
            <a:off x="6355080" y="3374280"/>
            <a:ext cx="547920" cy="547920"/>
          </a:xfrm>
          <a:prstGeom prst="ellipse">
            <a:avLst/>
          </a:prstGeom>
          <a:solidFill>
            <a:srgbClr val="EE5F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9"/>
          <p:cNvSpPr/>
          <p:nvPr/>
        </p:nvSpPr>
        <p:spPr>
          <a:xfrm>
            <a:off x="6355080" y="33742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0"/>
          <p:cNvSpPr/>
          <p:nvPr/>
        </p:nvSpPr>
        <p:spPr>
          <a:xfrm>
            <a:off x="7086600" y="3154680"/>
            <a:ext cx="4342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Verify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1"/>
          <p:cNvSpPr/>
          <p:nvPr/>
        </p:nvSpPr>
        <p:spPr>
          <a:xfrm>
            <a:off x="7086600" y="3557160"/>
            <a:ext cx="4296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Model asks for date of birth → calls authenticate_customer; server checks phone + DOB.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2"/>
          <p:cNvSpPr/>
          <p:nvPr/>
        </p:nvSpPr>
        <p:spPr>
          <a:xfrm>
            <a:off x="548640" y="4471560"/>
            <a:ext cx="5439960" cy="1279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3"/>
          <p:cNvSpPr/>
          <p:nvPr/>
        </p:nvSpPr>
        <p:spPr>
          <a:xfrm>
            <a:off x="777240" y="4855320"/>
            <a:ext cx="547920" cy="547920"/>
          </a:xfrm>
          <a:prstGeom prst="ellipse">
            <a:avLst/>
          </a:prstGeom>
          <a:solidFill>
            <a:srgbClr val="EE5F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4"/>
          <p:cNvSpPr/>
          <p:nvPr/>
        </p:nvSpPr>
        <p:spPr>
          <a:xfrm>
            <a:off x="777240" y="485532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5"/>
          <p:cNvSpPr/>
          <p:nvPr/>
        </p:nvSpPr>
        <p:spPr>
          <a:xfrm>
            <a:off x="1508760" y="4636080"/>
            <a:ext cx="4342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Act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6"/>
          <p:cNvSpPr/>
          <p:nvPr/>
        </p:nvSpPr>
        <p:spPr>
          <a:xfrm>
            <a:off x="1508760" y="5038200"/>
            <a:ext cx="4296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Once verified, model calls freeze_card; server updates the card row in SQLite.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7"/>
          <p:cNvSpPr/>
          <p:nvPr/>
        </p:nvSpPr>
        <p:spPr>
          <a:xfrm>
            <a:off x="6126480" y="4471560"/>
            <a:ext cx="5439960" cy="1279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8"/>
          <p:cNvSpPr/>
          <p:nvPr/>
        </p:nvSpPr>
        <p:spPr>
          <a:xfrm>
            <a:off x="6355080" y="4855320"/>
            <a:ext cx="547920" cy="547920"/>
          </a:xfrm>
          <a:prstGeom prst="ellipse">
            <a:avLst/>
          </a:prstGeom>
          <a:solidFill>
            <a:srgbClr val="EE5F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9"/>
          <p:cNvSpPr/>
          <p:nvPr/>
        </p:nvSpPr>
        <p:spPr>
          <a:xfrm>
            <a:off x="6355080" y="485532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0"/>
          <p:cNvSpPr/>
          <p:nvPr/>
        </p:nvSpPr>
        <p:spPr>
          <a:xfrm>
            <a:off x="7086600" y="4636080"/>
            <a:ext cx="4342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Reply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1"/>
          <p:cNvSpPr/>
          <p:nvPr/>
        </p:nvSpPr>
        <p:spPr>
          <a:xfrm>
            <a:off x="7086600" y="5038200"/>
            <a:ext cx="4296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Model phrases the result; Piper renders it to audio and the browser plays it.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548640" y="384120"/>
            <a:ext cx="110635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Tools &amp; function-calling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548640" y="951120"/>
            <a:ext cx="11063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A6A85"/>
                </a:solidFill>
                <a:effectLst/>
                <a:uFillTx/>
                <a:latin typeface="Calibri"/>
                <a:ea typeface="Calibri"/>
              </a:rPr>
              <a:t>The LLM doesn't touch data directly — it requests one of five well-defined tools.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0" name="Table 0"/>
          <p:cNvGraphicFramePr/>
          <p:nvPr/>
        </p:nvGraphicFramePr>
        <p:xfrm>
          <a:off x="548640" y="1463040"/>
          <a:ext cx="6766200" cy="373032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2560320"/>
              </a:tblGrid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Tool</a:t>
                      </a:r>
                      <a:endParaRPr lang="en-GB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23233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Argument</a:t>
                      </a:r>
                      <a:endParaRPr lang="en-GB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23233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Effect</a:t>
                      </a:r>
                      <a:endParaRPr lang="en-GB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23233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authenticate_customer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dateOfBirth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Verifies caller (phone already known). Required before card actions.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freeze_card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cardLast4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active → frozen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unfreeze_card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cardLast4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frozen → active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report_lost_card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cardLast4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→ lost (permanent block)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search_policy_documents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query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4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Returns best policy-document excerpts — no auth needed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8DEEA"/>
                      </a:solidFill>
                      <a:prstDash val="solid"/>
                    </a:lnL>
                    <a:lnR w="6480">
                      <a:solidFill>
                        <a:srgbClr val="D8DEEA"/>
                      </a:solidFill>
                      <a:prstDash val="solid"/>
                    </a:lnR>
                    <a:lnT w="6480">
                      <a:solidFill>
                        <a:srgbClr val="D8DEEA"/>
                      </a:solidFill>
                      <a:prstDash val="solid"/>
                    </a:lnT>
                    <a:lnB w="6480">
                      <a:solidFill>
                        <a:srgbClr val="D8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1" name="Shape 2"/>
          <p:cNvSpPr/>
          <p:nvPr/>
        </p:nvSpPr>
        <p:spPr>
          <a:xfrm>
            <a:off x="7635240" y="1463040"/>
            <a:ext cx="4004280" cy="4205520"/>
          </a:xfrm>
          <a:prstGeom prst="roundRect">
            <a:avLst>
              <a:gd name="adj" fmla="val 1826"/>
            </a:avLst>
          </a:prstGeom>
          <a:solidFill>
            <a:srgbClr val="F4F4F8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7863840" y="162756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Card status states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4"/>
          <p:cNvSpPr/>
          <p:nvPr/>
        </p:nvSpPr>
        <p:spPr>
          <a:xfrm>
            <a:off x="8778240" y="2194560"/>
            <a:ext cx="1736640" cy="566280"/>
          </a:xfrm>
          <a:prstGeom prst="roundRect">
            <a:avLst>
              <a:gd name="adj" fmla="val 50000"/>
            </a:avLst>
          </a:prstGeom>
          <a:solidFill>
            <a:srgbClr val="2BB6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8778240" y="2194560"/>
            <a:ext cx="17366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active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6"/>
          <p:cNvSpPr/>
          <p:nvPr/>
        </p:nvSpPr>
        <p:spPr>
          <a:xfrm>
            <a:off x="8778240" y="3200400"/>
            <a:ext cx="1736640" cy="566280"/>
          </a:xfrm>
          <a:prstGeom prst="roundRect">
            <a:avLst>
              <a:gd name="adj" fmla="val 50000"/>
            </a:avLst>
          </a:prstGeom>
          <a:solidFill>
            <a:srgbClr val="FF97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8778240" y="3200400"/>
            <a:ext cx="17366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frozen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8"/>
          <p:cNvSpPr/>
          <p:nvPr/>
        </p:nvSpPr>
        <p:spPr>
          <a:xfrm>
            <a:off x="8778240" y="4206240"/>
            <a:ext cx="1736640" cy="566280"/>
          </a:xfrm>
          <a:prstGeom prst="roundRect">
            <a:avLst>
              <a:gd name="adj" fmla="val 50000"/>
            </a:avLst>
          </a:prstGeom>
          <a:solidFill>
            <a:srgbClr val="E055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8778240" y="4206240"/>
            <a:ext cx="17366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lost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7818120" y="2743200"/>
            <a:ext cx="959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6A85"/>
                </a:solidFill>
                <a:effectLst/>
                <a:uFillTx/>
                <a:latin typeface="Calibri"/>
              </a:rPr>
              <a:t>freeze ↓   ↑ unfreeze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7772400" y="3749040"/>
            <a:ext cx="1005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6A85"/>
                </a:solidFill>
                <a:effectLst/>
                <a:uFillTx/>
                <a:latin typeface="Calibri"/>
              </a:rPr>
              <a:t>report lost ↓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7863840" y="4892040"/>
            <a:ext cx="3565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A6A85"/>
                </a:solidFill>
                <a:effectLst/>
                <a:uFillTx/>
                <a:latin typeface="Calibri"/>
              </a:rPr>
              <a:t>'lost' is terminal — a lost card cannot be frozen or reactivated.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548640" y="5349240"/>
            <a:ext cx="6765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EE5F0E"/>
                </a:solidFill>
                <a:effectLst/>
                <a:uFillTx/>
                <a:latin typeface="Calibri"/>
                <a:ea typeface="Calibri"/>
              </a:rPr>
              <a:t>Security note: the server enforces 'authenticate before any card action' regardless of what the model outputs. Informational searches are read-only and need no verification.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548640" y="384120"/>
            <a:ext cx="110635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Policy-document Q&amp;A — RAG, the lite way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548640" y="951120"/>
            <a:ext cx="11063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A6A85"/>
                </a:solidFill>
                <a:effectLst/>
                <a:uFillTx/>
                <a:latin typeface="Calibri"/>
                <a:ea typeface="Calibri"/>
              </a:rPr>
              <a:t>Customers ask informational questions; the agent answers from the bank's own PDFs.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548640" y="1508760"/>
            <a:ext cx="6308640" cy="10782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777240" y="1783080"/>
            <a:ext cx="529560" cy="529560"/>
          </a:xfrm>
          <a:prstGeom prst="ellipse">
            <a:avLst/>
          </a:prstGeom>
          <a:solidFill>
            <a:srgbClr val="4444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777240" y="1783080"/>
            <a:ext cx="5295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1481400" y="1600200"/>
            <a:ext cx="14166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Ingest</a:t>
            </a:r>
            <a:endParaRPr lang="en-GB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2926080" y="1600200"/>
            <a:ext cx="3748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Drop PDFs (or .txt) into Policy_Docs\. The index rebuilds automatically when files change — no restart.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548640" y="2734200"/>
            <a:ext cx="6308640" cy="10782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8"/>
          <p:cNvSpPr/>
          <p:nvPr/>
        </p:nvSpPr>
        <p:spPr>
          <a:xfrm>
            <a:off x="777240" y="3008520"/>
            <a:ext cx="529560" cy="529560"/>
          </a:xfrm>
          <a:prstGeom prst="ellipse">
            <a:avLst/>
          </a:prstGeom>
          <a:solidFill>
            <a:srgbClr val="EE5F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777240" y="3008520"/>
            <a:ext cx="5295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1481400" y="2825640"/>
            <a:ext cx="14166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Extract</a:t>
            </a:r>
            <a:endParaRPr lang="en-GB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2926080" y="2825640"/>
            <a:ext cx="3748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PDFBox pulls the text. Scanned, image-only PDFs fall back to Tesseract OCR; results are cached.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2"/>
          <p:cNvSpPr/>
          <p:nvPr/>
        </p:nvSpPr>
        <p:spPr>
          <a:xfrm>
            <a:off x="548640" y="3959280"/>
            <a:ext cx="6308640" cy="10782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777240" y="4233600"/>
            <a:ext cx="529560" cy="529560"/>
          </a:xfrm>
          <a:prstGeom prst="ellipse">
            <a:avLst/>
          </a:prstGeom>
          <a:solidFill>
            <a:srgbClr val="2323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777240" y="4233600"/>
            <a:ext cx="5295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1481400" y="4050720"/>
            <a:ext cx="14166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Retrieve</a:t>
            </a:r>
            <a:endParaRPr lang="en-GB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2926080" y="4050720"/>
            <a:ext cx="3748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~900-character passages ranked by IDF-weighted keywords, plus a phone-number boost. Excerpts come from the single best-matching document.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7"/>
          <p:cNvSpPr/>
          <p:nvPr/>
        </p:nvSpPr>
        <p:spPr>
          <a:xfrm>
            <a:off x="548640" y="5184720"/>
            <a:ext cx="6308640" cy="10782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4E4EE"/>
            </a:solidFill>
            <a:round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8"/>
          <p:cNvSpPr/>
          <p:nvPr/>
        </p:nvSpPr>
        <p:spPr>
          <a:xfrm>
            <a:off x="777240" y="5459040"/>
            <a:ext cx="529560" cy="529560"/>
          </a:xfrm>
          <a:prstGeom prst="ellipse">
            <a:avLst/>
          </a:prstGeom>
          <a:solidFill>
            <a:srgbClr val="2BB6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9"/>
          <p:cNvSpPr/>
          <p:nvPr/>
        </p:nvSpPr>
        <p:spPr>
          <a:xfrm>
            <a:off x="777240" y="5459040"/>
            <a:ext cx="5295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0"/>
          <p:cNvSpPr/>
          <p:nvPr/>
        </p:nvSpPr>
        <p:spPr>
          <a:xfrm>
            <a:off x="1481400" y="5276160"/>
            <a:ext cx="14166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3233F"/>
                </a:solidFill>
                <a:effectLst/>
                <a:uFillTx/>
                <a:latin typeface="Georgia"/>
                <a:ea typeface="Georgia"/>
              </a:rPr>
              <a:t>Answer</a:t>
            </a:r>
            <a:endParaRPr lang="en-GB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1"/>
          <p:cNvSpPr/>
          <p:nvPr/>
        </p:nvSpPr>
        <p:spPr>
          <a:xfrm>
            <a:off x="2926080" y="5276160"/>
            <a:ext cx="3748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The LLM calls search_policy_documents and answers only from the returned excerpts. No authentication required.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2"/>
          <p:cNvSpPr/>
          <p:nvPr/>
        </p:nvSpPr>
        <p:spPr>
          <a:xfrm>
            <a:off x="7132320" y="1508760"/>
            <a:ext cx="4507200" cy="4799880"/>
          </a:xfrm>
          <a:prstGeom prst="roundRect">
            <a:avLst>
              <a:gd name="adj" fmla="val 1623"/>
            </a:avLst>
          </a:prstGeom>
          <a:solidFill>
            <a:srgbClr val="23233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23233F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3"/>
          <p:cNvSpPr/>
          <p:nvPr/>
        </p:nvSpPr>
        <p:spPr>
          <a:xfrm>
            <a:off x="7406640" y="173736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972F"/>
                </a:solidFill>
                <a:effectLst/>
                <a:uFillTx/>
                <a:latin typeface="Calibri"/>
                <a:ea typeface="Calibri"/>
              </a:rPr>
              <a:t>LIVE EXAMPLE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4"/>
          <p:cNvSpPr/>
          <p:nvPr/>
        </p:nvSpPr>
        <p:spPr>
          <a:xfrm>
            <a:off x="7772400" y="2240280"/>
            <a:ext cx="3611160" cy="913680"/>
          </a:xfrm>
          <a:prstGeom prst="roundRect">
            <a:avLst>
              <a:gd name="adj" fmla="val 12000"/>
            </a:avLst>
          </a:prstGeom>
          <a:solidFill>
            <a:srgbClr val="EE5F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5"/>
          <p:cNvSpPr/>
          <p:nvPr/>
        </p:nvSpPr>
        <p:spPr>
          <a:xfrm>
            <a:off x="7955280" y="2304360"/>
            <a:ext cx="32454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“What's the customer service number for personal loans?”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6"/>
          <p:cNvSpPr/>
          <p:nvPr/>
        </p:nvSpPr>
        <p:spPr>
          <a:xfrm>
            <a:off x="7406640" y="3383280"/>
            <a:ext cx="3611160" cy="105084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7"/>
          <p:cNvSpPr/>
          <p:nvPr/>
        </p:nvSpPr>
        <p:spPr>
          <a:xfrm>
            <a:off x="7589520" y="3456360"/>
            <a:ext cx="32454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“Call </a:t>
            </a:r>
            <a:r>
              <a:rPr lang="en-US" sz="1350" b="1" u="none" strike="noStrike">
                <a:solidFill>
                  <a:srgbClr val="EE5F0E"/>
                </a:solidFill>
                <a:effectLst/>
                <a:uFillTx/>
                <a:latin typeface="Calibri"/>
                <a:ea typeface="Calibri"/>
              </a:rPr>
              <a:t>1-877-256-2632</a:t>
            </a:r>
            <a:r>
              <a:rPr lang="en-US" sz="1250" b="0" u="none" strike="noStrike">
                <a:solidFill>
                  <a:srgbClr val="262640"/>
                </a:solidFill>
                <a:effectLst/>
                <a:uFillTx/>
                <a:latin typeface="Calibri"/>
                <a:ea typeface="Calibri"/>
              </a:rPr>
              <a:t> — our menu will prompt you through your choices.”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8"/>
          <p:cNvSpPr/>
          <p:nvPr/>
        </p:nvSpPr>
        <p:spPr>
          <a:xfrm>
            <a:off x="7406640" y="4709160"/>
            <a:ext cx="3931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D9D9EA"/>
                </a:solidFill>
                <a:effectLst/>
                <a:uFillTx/>
                <a:latin typeface="Calibri"/>
                <a:ea typeface="Calibri"/>
              </a:rPr>
              <a:t>Source: DiscoverPersonalLoans_PrivacyPolicy-2025.pdf — a scanned PDF, read via OCR.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9"/>
          <p:cNvSpPr/>
          <p:nvPr/>
        </p:nvSpPr>
        <p:spPr>
          <a:xfrm>
            <a:off x="7406640" y="5532120"/>
            <a:ext cx="3931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Add a new product brochure today — the agent answers questions about it minutes later.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-1371600" y="3657600"/>
            <a:ext cx="4571280" cy="4571280"/>
          </a:xfrm>
          <a:prstGeom prst="ellipse">
            <a:avLst/>
          </a:prstGeom>
          <a:solidFill>
            <a:srgbClr val="EE5F0E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"/>
          <p:cNvSpPr/>
          <p:nvPr/>
        </p:nvSpPr>
        <p:spPr>
          <a:xfrm>
            <a:off x="10058400" y="-1371600"/>
            <a:ext cx="4114080" cy="4114080"/>
          </a:xfrm>
          <a:prstGeom prst="ellipse">
            <a:avLst/>
          </a:prstGeom>
          <a:solidFill>
            <a:srgbClr val="FF972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0" descr="D:/BankingVoiceAgent_POC/slides/discover-logo.png"/>
          <p:cNvPicPr/>
          <p:nvPr/>
        </p:nvPicPr>
        <p:blipFill>
          <a:blip r:embed="rId1"/>
          <a:stretch/>
        </p:blipFill>
        <p:spPr>
          <a:xfrm>
            <a:off x="731520" y="685800"/>
            <a:ext cx="243144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2"/>
          <p:cNvSpPr/>
          <p:nvPr/>
        </p:nvSpPr>
        <p:spPr>
          <a:xfrm>
            <a:off x="731520" y="201168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300" strike="noStrike">
                <a:solidFill>
                  <a:srgbClr val="FF972F"/>
                </a:solidFill>
                <a:effectLst/>
                <a:uFillTx/>
                <a:latin typeface="Calibri"/>
                <a:ea typeface="Calibri"/>
              </a:rPr>
              <a:t>Summary</a:t>
            </a:r>
            <a:endParaRPr lang="en-GB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"/>
          <p:cNvSpPr/>
          <p:nvPr/>
        </p:nvSpPr>
        <p:spPr>
          <a:xfrm>
            <a:off x="731520" y="2468880"/>
            <a:ext cx="106063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 private, self-contained AI voice agent</a:t>
            </a:r>
            <a:endParaRPr lang="en-GB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for bank card services.</a:t>
            </a:r>
            <a:endParaRPr lang="en-GB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749880" y="4206240"/>
            <a:ext cx="10606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9D9EA"/>
                </a:solidFill>
                <a:effectLst/>
                <a:uFillTx/>
                <a:latin typeface="Calibri"/>
                <a:ea typeface="Calibri"/>
              </a:rPr>
              <a:t>Browser speech  ·  local LLM (Ollama)  ·  Spring Boot + SQLite  ·  Piper voice  ·  policy-document Q&amp;A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9D9EA"/>
                </a:solidFill>
                <a:effectLst/>
                <a:uFillTx/>
                <a:latin typeface="Calibri"/>
                <a:ea typeface="Calibri"/>
              </a:rPr>
              <a:t>— no cloud, no keys, no data leaving the device.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</TotalTime>
  <Application>LibreOffice/26.2.3.2$Windows_X86_64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2026-06-12T09:31:47Z</dcterms:created>
  <dc:creator>Discover POC</dc:creator>
  <dc:description/>
  <dc:language>en-GB</dc:language>
  <cp:lastModifiedBy/>
  <dcterms:modified xsi:type="dcterms:W3CDTF">2026-07-31T12:32:05Z</dcterms:modified>
  <cp:revision>3</cp:revision>
  <dc:subject>PptxGenJS Presentation</dc:subject>
  <dc:title>Discover — Local AI Voice Agent (Technical)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